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2" clrIdx="0">
    <p:extLst>
      <p:ext uri="{19B8F6BF-5375-455C-9EA6-DF929625EA0E}">
        <p15:presenceInfo xmlns:p15="http://schemas.microsoft.com/office/powerpoint/2012/main" userId="2c8d2e84d8c69fd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BC7D5-E609-4516-9DAD-1E6F93CE7520}" v="4" dt="2026-04-11T08:07:54.8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5033" autoAdjust="0"/>
  </p:normalViewPr>
  <p:slideViewPr>
    <p:cSldViewPr snapToGrid="0" snapToObjects="1">
      <p:cViewPr varScale="1">
        <p:scale>
          <a:sx n="104" d="100"/>
          <a:sy n="104" d="100"/>
        </p:scale>
        <p:origin x="629" y="82"/>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khushirajak642-coder.github.io/Transformingdata/"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60459" y="3767966"/>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8" y="3917527"/>
            <a:ext cx="1669021"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Khushi Anand Rajak</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36179" y="3770578"/>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096762" y="3779089"/>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06918" y="3917527"/>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khushirajak642@gmail.com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650903" y="3796435"/>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Ms</a:t>
              </a:r>
              <a:r>
                <a:rPr lang="en-US" sz="1200" b="1" dirty="0">
                  <a:solidFill>
                    <a:srgbClr val="0D358D"/>
                  </a:solidFill>
                  <a:latin typeface="Arial" panose="020B0604020202020204" pitchFamily="34" charset="0"/>
                  <a:ea typeface="Aileron Bold"/>
                  <a:cs typeface="Arial" panose="020B0604020202020204" pitchFamily="34" charset="0"/>
                  <a:sym typeface="Aileron Bold"/>
                </a:rPr>
                <a:t>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Umamaheshwari</a:t>
              </a:r>
              <a:r>
                <a:rPr lang="en-US" sz="1200" b="1" dirty="0">
                  <a:solidFill>
                    <a:srgbClr val="0D358D"/>
                  </a:solidFill>
                  <a:latin typeface="Arial" panose="020B0604020202020204" pitchFamily="34" charset="0"/>
                  <a:ea typeface="Aileron Bold"/>
                  <a:cs typeface="Arial" panose="020B0604020202020204" pitchFamily="34" charset="0"/>
                  <a:sym typeface="Aileron Bold"/>
                </a:rPr>
                <a:t> </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2F24B206-F524-09D6-4AF4-42F990AA790E}"/>
              </a:ext>
            </a:extLst>
          </p:cNvPr>
          <p:cNvSpPr txBox="1"/>
          <p:nvPr/>
        </p:nvSpPr>
        <p:spPr>
          <a:xfrm>
            <a:off x="592060" y="3388640"/>
            <a:ext cx="3592536" cy="307777"/>
          </a:xfrm>
          <a:prstGeom prst="rect">
            <a:avLst/>
          </a:prstGeom>
          <a:no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Transforming Employee Payroll Data</a:t>
            </a: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83095" y="1046432"/>
            <a:ext cx="6032122" cy="3693319"/>
          </a:xfrm>
          <a:prstGeom prst="rect">
            <a:avLst/>
          </a:prstGeom>
          <a:noFill/>
        </p:spPr>
        <p:txBody>
          <a:bodyPr wrap="square">
            <a:spAutoFit/>
          </a:bodyPr>
          <a:lstStyle/>
          <a:p>
            <a:pPr>
              <a:spcAft>
                <a:spcPts val="800"/>
              </a:spcAft>
              <a:tabLst>
                <a:tab pos="4229100" algn="ctr"/>
              </a:tabLst>
            </a:pPr>
            <a:r>
              <a:rPr lang="en-US" dirty="0">
                <a:latin typeface="Lato" panose="020F0502020204030203" pitchFamily="34" charset="0"/>
                <a:ea typeface="Lato" panose="020F0502020204030203" pitchFamily="34" charset="0"/>
                <a:cs typeface="Lato" panose="020F0502020204030203" pitchFamily="34" charset="0"/>
              </a:rPr>
              <a:t>This project focuses on transforming employee payroll data by converting traditional payroll systems into a more efficient, accurate, and automated digital process. The objective is to streamline payroll operations, reduce manual errors, and ensure compliance with financial regulations while improving transparency and reliability. The project uses tools such as Microsoft Excel for data management and SQL for database handling and integration. The expected outcomes include faster payroll processing, improved data accuracy, reduced workload, and better accessibility of payroll information. A key highlight of this project is the integration and automation of payroll data into a centralized system.</a:t>
            </a:r>
            <a:endParaRPr lang="en-GB" dirty="0">
              <a:latin typeface="Lato" panose="020F0502020204030203" pitchFamily="34" charset="0"/>
              <a:ea typeface="Lato" panose="020F0502020204030203" pitchFamily="34" charset="0"/>
              <a:cs typeface="Lato" panose="020F0502020204030203"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6115217" y="1210123"/>
            <a:ext cx="2823043" cy="2977898"/>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998720" y="873760"/>
            <a:ext cx="40200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964920" cy="3652282"/>
          </a:xfrm>
          <a:prstGeom prst="rect">
            <a:avLst/>
          </a:prstGeom>
          <a:noFill/>
        </p:spPr>
        <p:txBody>
          <a:bodyPr wrap="square">
            <a:spAutoFit/>
          </a:bodyPr>
          <a:lstStyle/>
          <a:p>
            <a:pPr algn="just">
              <a:spcAft>
                <a:spcPts val="800"/>
              </a:spcAft>
              <a:tabLst>
                <a:tab pos="4229100" algn="ctr"/>
              </a:tabLst>
            </a:pPr>
            <a:r>
              <a:rPr lang="en-GB" b="1" dirty="0">
                <a:solidFill>
                  <a:schemeClr val="accent1">
                    <a:lumMod val="50000"/>
                  </a:schemeClr>
                </a:solidFill>
                <a:latin typeface="Lato" panose="020F0502020204030203" pitchFamily="34" charset="0"/>
                <a:ea typeface="+mn-lt"/>
                <a:cs typeface="Arial" panose="020B0604020202020204" pitchFamily="34" charset="0"/>
              </a:rPr>
              <a:t>Business related problems</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Unoptimized Payroll Workflow with Low Data Accuracy </a:t>
            </a:r>
            <a:r>
              <a:rPr lang="en-GB" dirty="0">
                <a:latin typeface="Lato" panose="020F0502020204030203" pitchFamily="34" charset="0"/>
                <a:ea typeface="+mn-lt"/>
                <a:cs typeface="Arial" panose="020B0604020202020204" pitchFamily="34" charset="0"/>
              </a:rPr>
              <a:t> </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Inaccurate Payroll Processing with Poor Data Integrity</a:t>
            </a:r>
            <a:endParaRPr lang="en-GB" dirty="0">
              <a:latin typeface="Lato" panose="020F0502020204030203" pitchFamily="34" charset="0"/>
              <a:ea typeface="+mn-lt"/>
              <a:cs typeface="Arial" panose="020B0604020202020204" pitchFamily="34" charset="0"/>
            </a:endParaRP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Fragmented Payroll Data with Poor System Integration</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Poorly Managed Payroll System with Security Risks</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Unreliable Payroll Processing with Compliance Risks</a:t>
            </a:r>
            <a:endParaRPr lang="en-GB"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2"/>
            <a:ext cx="4606534" cy="3739347"/>
          </a:xfrm>
          <a:prstGeom prst="rect">
            <a:avLst/>
          </a:prstGeom>
          <a:noFill/>
          <a:ln/>
        </p:spPr>
        <p:txBody>
          <a:bodyPr wrap="square" rtlCol="0" anchor="t"/>
          <a:lstStyle/>
          <a:p>
            <a:r>
              <a:rPr lang="en-US" b="1" dirty="0">
                <a:solidFill>
                  <a:srgbClr val="002060"/>
                </a:solidFill>
                <a:latin typeface="Lato" panose="020F0502020204030203" pitchFamily="34" charset="0"/>
                <a:cs typeface="Arial" panose="020B0604020202020204" pitchFamily="34" charset="0"/>
              </a:rPr>
              <a:t>This project uses Excel and Power BI to solve inventory and fulfillment issues.</a:t>
            </a:r>
          </a:p>
          <a:p>
            <a:endParaRPr lang="en-US" b="1" dirty="0">
              <a:solidFill>
                <a:srgbClr val="002060"/>
              </a:solidFill>
              <a:latin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Compliance Tracking with Predefined Rules and Reports</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Scalable Reporting using Power BI Data Models</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Workflow Optimization through Process Automation</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Role-Based Access Control and Data Security Measures</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Improved Data Integrity with Single Source of Truth</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918304" y="1245574"/>
            <a:ext cx="4114800" cy="384048"/>
          </a:xfrm>
          <a:prstGeom prst="rect">
            <a:avLst/>
          </a:prstGeom>
          <a:solidFill>
            <a:schemeClr val="accent1">
              <a:lumMod val="20000"/>
              <a:lumOff val="80000"/>
            </a:schemeClr>
          </a:solidFill>
          <a:ln/>
        </p:spPr>
        <p:txBody>
          <a:bodyPr/>
          <a:lstStyle/>
          <a:p>
            <a:endParaRPr lang="en-IN" sz="1600" dirty="0">
              <a:latin typeface="Lato" panose="020F0502020204030203" pitchFamily="34" charset="0"/>
              <a:cs typeface="Arial" panose="020B0604020202020204" pitchFamily="34" charset="0"/>
            </a:endParaRPr>
          </a:p>
        </p:txBody>
      </p:sp>
      <p:sp>
        <p:nvSpPr>
          <p:cNvPr id="11" name="Shape 9"/>
          <p:cNvSpPr/>
          <p:nvPr/>
        </p:nvSpPr>
        <p:spPr>
          <a:xfrm>
            <a:off x="8713064" y="1252054"/>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953000" y="127190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307391" y="3290033"/>
            <a:ext cx="4114800" cy="384048"/>
          </a:xfrm>
          <a:prstGeom prst="rect">
            <a:avLst/>
          </a:prstGeom>
          <a:solidFill>
            <a:schemeClr val="accent1">
              <a:lumMod val="20000"/>
              <a:lumOff val="80000"/>
            </a:schemeClr>
          </a:solidFill>
          <a:ln/>
        </p:spPr>
        <p:txBody>
          <a:bodyPr/>
          <a:lstStyle/>
          <a:p>
            <a:endParaRPr lang="en-IN" dirty="0">
              <a:latin typeface="Lato" panose="020F0502020204030203" pitchFamily="34" charset="0"/>
            </a:endParaRPr>
          </a:p>
        </p:txBody>
      </p:sp>
      <p:sp>
        <p:nvSpPr>
          <p:cNvPr id="15" name="Shape 13"/>
          <p:cNvSpPr/>
          <p:nvPr/>
        </p:nvSpPr>
        <p:spPr>
          <a:xfrm>
            <a:off x="4158896" y="3290033"/>
            <a:ext cx="320040" cy="384048"/>
          </a:xfrm>
          <a:prstGeom prst="rect">
            <a:avLst/>
          </a:prstGeom>
          <a:solidFill>
            <a:srgbClr val="1B3A8A"/>
          </a:solidFill>
          <a:ln/>
        </p:spPr>
        <p:txBody>
          <a:bodyPr/>
          <a:lstStyle/>
          <a:p>
            <a:endParaRPr lang="en-IN" dirty="0">
              <a:latin typeface="Lato" panose="020F0502020204030203" pitchFamily="34" charset="0"/>
            </a:endParaRPr>
          </a:p>
        </p:txBody>
      </p:sp>
      <p:sp>
        <p:nvSpPr>
          <p:cNvPr id="16" name="Text 14"/>
          <p:cNvSpPr/>
          <p:nvPr/>
        </p:nvSpPr>
        <p:spPr>
          <a:xfrm>
            <a:off x="404670" y="3317264"/>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922701" y="3317264"/>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730898" y="3317328"/>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976672" y="3371941"/>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 name="TextBox 1">
            <a:extLst>
              <a:ext uri="{FF2B5EF4-FFF2-40B4-BE49-F238E27FC236}">
                <a16:creationId xmlns:a16="http://schemas.microsoft.com/office/drawing/2014/main" id="{A9DC3474-D38A-683B-92A6-98E832B20C65}"/>
              </a:ext>
            </a:extLst>
          </p:cNvPr>
          <p:cNvSpPr txBox="1"/>
          <p:nvPr/>
        </p:nvSpPr>
        <p:spPr>
          <a:xfrm>
            <a:off x="151587" y="1687426"/>
            <a:ext cx="4251960"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Employee Payroll dataset from Kaggle / Excel</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Contains employee details, department, salary components (Basic Pay, Allowances, Deductions), attendance, tax, and net salary</a:t>
            </a:r>
          </a:p>
        </p:txBody>
      </p:sp>
      <p:sp>
        <p:nvSpPr>
          <p:cNvPr id="23" name="TextBox 22">
            <a:extLst>
              <a:ext uri="{FF2B5EF4-FFF2-40B4-BE49-F238E27FC236}">
                <a16:creationId xmlns:a16="http://schemas.microsoft.com/office/drawing/2014/main" id="{BAA55FC7-C0E9-32BE-2480-7CDE67341BE1}"/>
              </a:ext>
            </a:extLst>
          </p:cNvPr>
          <p:cNvSpPr txBox="1"/>
          <p:nvPr/>
        </p:nvSpPr>
        <p:spPr>
          <a:xfrm>
            <a:off x="171855" y="3783873"/>
            <a:ext cx="4211424" cy="1323439"/>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Power BI for visualization and dashboard creation</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AI tools (ChatGPT / Copilot) for insights, report generation, and interpretation </a:t>
            </a:r>
          </a:p>
          <a:p>
            <a:pPr marL="285750" indent="-285750">
              <a:buFont typeface="Arial" panose="020B0604020202020204" pitchFamily="34" charset="0"/>
              <a:buChar char="•"/>
            </a:pPr>
            <a:endParaRPr lang="en-US" sz="1600" dirty="0">
              <a:latin typeface="Lato" panose="020F0502020204030203"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87FBEC32-1447-55B8-5933-6CD285F288C0}"/>
              </a:ext>
            </a:extLst>
          </p:cNvPr>
          <p:cNvSpPr txBox="1"/>
          <p:nvPr/>
        </p:nvSpPr>
        <p:spPr>
          <a:xfrm>
            <a:off x="4622907" y="1834649"/>
            <a:ext cx="4428031"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Data cleaning and preprocessing using Excel</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 Payroll calculations using formulas (Net Salary, Tax, Deductions)</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KPI calculation using Power BI (Total Salary, Average Salary, Department-wise Expenses)</a:t>
            </a:r>
          </a:p>
        </p:txBody>
      </p:sp>
      <p:sp>
        <p:nvSpPr>
          <p:cNvPr id="27" name="TextBox 26">
            <a:extLst>
              <a:ext uri="{FF2B5EF4-FFF2-40B4-BE49-F238E27FC236}">
                <a16:creationId xmlns:a16="http://schemas.microsoft.com/office/drawing/2014/main" id="{A8F0715D-F9E9-459D-1079-88D74F73B853}"/>
              </a:ext>
            </a:extLst>
          </p:cNvPr>
          <p:cNvSpPr txBox="1"/>
          <p:nvPr/>
        </p:nvSpPr>
        <p:spPr>
          <a:xfrm>
            <a:off x="4670248" y="3701312"/>
            <a:ext cx="4210458"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Interactive Power BI dashboard with KPI cards and visualizations </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Provides insights on salary distribution, payroll expenses, deductions, and department-wise analysis </a:t>
            </a:r>
          </a:p>
          <a:p>
            <a:pPr marL="285750" indent="-285750">
              <a:buFont typeface="Arial" panose="020B0604020202020204" pitchFamily="34" charset="0"/>
              <a:buChar char="•"/>
            </a:pPr>
            <a:endParaRPr lang="en-US" sz="1600" dirty="0">
              <a:latin typeface="Lato" panose="020F0502020204030203" pitchFamily="34" charset="0"/>
              <a:ea typeface="Lato" panose="020F0502020204030203" pitchFamily="34" charset="0"/>
              <a:cs typeface="Lato" panose="020F0502020204030203"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 </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8" name="Picture 7">
            <a:extLst>
              <a:ext uri="{FF2B5EF4-FFF2-40B4-BE49-F238E27FC236}">
                <a16:creationId xmlns:a16="http://schemas.microsoft.com/office/drawing/2014/main" id="{AA071B07-E08E-06D5-818F-7FB40F31D200}"/>
              </a:ext>
            </a:extLst>
          </p:cNvPr>
          <p:cNvPicPr>
            <a:picLocks noChangeAspect="1"/>
          </p:cNvPicPr>
          <p:nvPr/>
        </p:nvPicPr>
        <p:blipFill>
          <a:blip r:embed="rId4"/>
          <a:stretch>
            <a:fillRect/>
          </a:stretch>
        </p:blipFill>
        <p:spPr>
          <a:xfrm>
            <a:off x="289794" y="2194622"/>
            <a:ext cx="2764302" cy="2822031"/>
          </a:xfrm>
          <a:prstGeom prst="rect">
            <a:avLst/>
          </a:prstGeom>
        </p:spPr>
      </p:pic>
      <p:pic>
        <p:nvPicPr>
          <p:cNvPr id="23" name="Picture 22">
            <a:extLst>
              <a:ext uri="{FF2B5EF4-FFF2-40B4-BE49-F238E27FC236}">
                <a16:creationId xmlns:a16="http://schemas.microsoft.com/office/drawing/2014/main" id="{DFEAFB1D-760E-5DE1-14BC-770D199FD3D3}"/>
              </a:ext>
            </a:extLst>
          </p:cNvPr>
          <p:cNvPicPr>
            <a:picLocks noChangeAspect="1"/>
          </p:cNvPicPr>
          <p:nvPr/>
        </p:nvPicPr>
        <p:blipFill>
          <a:blip r:embed="rId5"/>
          <a:stretch>
            <a:fillRect/>
          </a:stretch>
        </p:blipFill>
        <p:spPr>
          <a:xfrm>
            <a:off x="3209544" y="2194621"/>
            <a:ext cx="2788920" cy="2822031"/>
          </a:xfrm>
          <a:prstGeom prst="rect">
            <a:avLst/>
          </a:prstGeom>
        </p:spPr>
      </p:pic>
      <p:pic>
        <p:nvPicPr>
          <p:cNvPr id="25" name="Picture 24">
            <a:extLst>
              <a:ext uri="{FF2B5EF4-FFF2-40B4-BE49-F238E27FC236}">
                <a16:creationId xmlns:a16="http://schemas.microsoft.com/office/drawing/2014/main" id="{6AB0C90D-4FCE-FF1B-40A2-2AE60B1D950D}"/>
              </a:ext>
            </a:extLst>
          </p:cNvPr>
          <p:cNvPicPr>
            <a:picLocks noChangeAspect="1"/>
          </p:cNvPicPr>
          <p:nvPr/>
        </p:nvPicPr>
        <p:blipFill>
          <a:blip r:embed="rId6"/>
          <a:stretch>
            <a:fillRect/>
          </a:stretch>
        </p:blipFill>
        <p:spPr>
          <a:xfrm>
            <a:off x="6144768" y="2194622"/>
            <a:ext cx="2788920" cy="2644749"/>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71600" y="768096"/>
            <a:ext cx="5029200" cy="201168"/>
          </a:xfrm>
          <a:prstGeom prst="rect">
            <a:avLst/>
          </a:prstGeom>
          <a:noFill/>
          <a:ln/>
        </p:spPr>
        <p:txBody>
          <a:bodyPr wrap="square" rtlCol="0" anchor="ctr"/>
          <a:lstStyle/>
          <a:p>
            <a:r>
              <a:rPr lang="en-US" sz="900" dirty="0">
                <a:solidFill>
                  <a:srgbClr val="00B0F0"/>
                </a:solidFill>
                <a:hlinkClick r:id="rId4"/>
              </a:rPr>
              <a:t>https://khushirajak642-coder.github.io/Transformingdata/</a:t>
            </a:r>
            <a:endParaRPr lang="en-US" sz="900" dirty="0">
              <a:solidFill>
                <a:srgbClr val="00B0F0"/>
              </a:solidFill>
            </a:endParaRPr>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33916" y="1050976"/>
            <a:ext cx="5421063" cy="3921413"/>
          </a:xfrm>
          <a:prstGeom prst="rect">
            <a:avLst/>
          </a:prstGeom>
          <a:noFill/>
          <a:ln/>
        </p:spPr>
        <p:txBody>
          <a:bodyPr wrap="square" rtlCol="0" anchor="t"/>
          <a:lstStyle/>
          <a:p>
            <a:r>
              <a:rPr lang="en-US" dirty="0">
                <a:latin typeface="Lato" panose="020F0502020204030203" pitchFamily="34" charset="0"/>
                <a:ea typeface="Lato" panose="020F0502020204030203" pitchFamily="34" charset="0"/>
                <a:cs typeface="Lato" panose="020F0502020204030203" pitchFamily="34" charset="0"/>
              </a:rPr>
              <a:t>This project successfully converted raw payroll data into structured and meaningful information using Excel and Power BI.</a:t>
            </a:r>
            <a:endParaRPr lang="en-GB" dirty="0">
              <a:latin typeface="Lato" panose="020F0502020204030203" pitchFamily="34" charset="0"/>
              <a:ea typeface="Lato" panose="020F0502020204030203" pitchFamily="34" charset="0"/>
              <a:cs typeface="Lato" panose="020F0502020204030203" pitchFamily="34" charset="0"/>
            </a:endParaRPr>
          </a:p>
          <a:p>
            <a:r>
              <a:rPr lang="en-GB" dirty="0">
                <a:latin typeface="Lato" panose="020F0502020204030203" pitchFamily="34" charset="0"/>
                <a:ea typeface="Lato" panose="020F0502020204030203" pitchFamily="34" charset="0"/>
                <a:cs typeface="Lato" panose="020F0502020204030203" pitchFamily="34" charset="0"/>
              </a:rPr>
              <a:t>Key achievements:</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Cleaned and organized employee payroll dataset</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Performed accurate payroll data analysis</a:t>
            </a:r>
            <a:endParaRPr lang="en-GB" dirty="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Created interactive dashboards for salary insights</a:t>
            </a:r>
            <a:endParaRPr lang="en-GB" dirty="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Improved payroll processing and reporting efficiency</a:t>
            </a:r>
            <a:endParaRPr lang="en-GB" dirty="0">
              <a:latin typeface="Lato" panose="020F0502020204030203" pitchFamily="34" charset="0"/>
              <a:ea typeface="Lato" panose="020F0502020204030203" pitchFamily="34" charset="0"/>
              <a:cs typeface="Lato" panose="020F0502020204030203" pitchFamily="34" charset="0"/>
            </a:endParaRPr>
          </a:p>
          <a:p>
            <a:r>
              <a:rPr lang="en-US" dirty="0">
                <a:latin typeface="Lato" panose="020F0502020204030203" pitchFamily="34" charset="0"/>
                <a:ea typeface="Lato" panose="020F0502020204030203" pitchFamily="34" charset="0"/>
                <a:cs typeface="Lato" panose="020F0502020204030203" pitchFamily="34" charset="0"/>
              </a:rPr>
              <a:t>The project demonstrates how Excel and Power BI can be effectively used for payroll management, data analysis, and better decision-making in organizations.</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5412627" y="1050976"/>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Integration with AI &amp; Machine Learning</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Cloud-Based Payroll Systems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Advanced Data Analytics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Blockchain for Secure Transactions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Automation &amp; Self-Service Portals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Compliance &amp; Global Payroll Management</a:t>
            </a: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689</TotalTime>
  <Words>565</Words>
  <Application>Microsoft Office PowerPoint</Application>
  <PresentationFormat>On-screen Show (16:9)</PresentationFormat>
  <Paragraphs>88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aadityarajak14@gmail.com</cp:lastModifiedBy>
  <cp:revision>52</cp:revision>
  <dcterms:created xsi:type="dcterms:W3CDTF">2026-02-18T09:17:23Z</dcterms:created>
  <dcterms:modified xsi:type="dcterms:W3CDTF">2026-04-11T08:31:51Z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